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29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0:00–0:40 — Problem
“People often need quick weather information without opening multiple apps. Cirra is a Weather Briefing MCP server that provides current weather, forecasts, comparisons, alerts, and practical weather briefings through MCP tools.”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0:00–0:40 — Problem
“People often need quick weather information without opening multiple apps. Cirra is a Weather Briefing MCP server that provides current weather, forecasts, comparisons, alerts, and practical weather briefings through MCP tools.”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0:40–1:10 — Architecture
“Cirra is built with TypeScript and MCP tools. It validates inputs with Zod, resolves city names, retrieves live data from Open-Meteo over HTTPS, and uses local fixture data as an offline fallback if the API or Wi-Fi is unavailable.”
Show this one architecture slide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1:10–2:20 — Live Tool 1
Tool: get_weather
Input: { "city": "Hebron" }
Expected result: Current temperature, conditions, humidity, and wind speed for Hebron.
Say after the result:
“Here I used get_weather with only the city name. The tool resolves the city internally and returns the current weather in a structured response.”
2:20–3:30 — Live Tool 2
Tool: compare_weather
Input: { "city1": "Hebron", "city2": "Amman" }
Expected result: A structured comparison of the current weather in Hebron and Amman.
Say after the result:
“This tool compares the current weather in two cities in one response, so the user does not need to check each city separately.”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3:30–4:20 — What I’d Build Next
“Next, I would improve location disambiguation, add richer severe-weather notifications, and connect favorites to persistent user storage instead of local-only storage.”
4:20–4:40 — Backup Plan
“If the Wi-Fi or Open-Meteo API fails, I can use the local fixture fallback, so the demo can still return predictable weather data offline.”
Backup Tool: get_forecast
Input: { "city": "Hebron", "days": 2 }
Expected result: A two-day weather forecast for Hebron.
4:40–5:00 — Close
“That is Cirra: a small MCP server that turns weather data into quick, useful results. Thank you — I’m ready for questions.”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RRA_MASTER">
    <p:bg>
      <p:bgPr>
        <a:solidFill>
          <a:srgbClr val="E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CIRRA  •  Weather Briefing MCP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509760" y="65836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Rawand Bawatneh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54864"/>
            <a:ext cx="3703320" cy="3703320"/>
          </a:xfrm>
          <a:prstGeom prst="ellipse">
            <a:avLst/>
          </a:prstGeom>
          <a:solidFill>
            <a:srgbClr val="C9EEFC">
              <a:alpha val="88000"/>
            </a:srgbClr>
          </a:solidFill>
          <a:ln w="12700">
            <a:solidFill>
              <a:srgbClr val="C9EE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" name="Shape 1"/>
          <p:cNvSpPr/>
          <p:nvPr/>
        </p:nvSpPr>
        <p:spPr>
          <a:xfrm>
            <a:off x="9418320" y="2697480"/>
            <a:ext cx="2926080" cy="2926080"/>
          </a:xfrm>
          <a:prstGeom prst="ellipse">
            <a:avLst/>
          </a:prstGeom>
          <a:solidFill>
            <a:srgbClr val="DDF5FF">
              <a:alpha val="92000"/>
            </a:srgbClr>
          </a:solidFill>
          <a:ln w="12700">
            <a:solidFill>
              <a:srgbClr val="DD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4" name="Shape 2"/>
          <p:cNvSpPr/>
          <p:nvPr/>
        </p:nvSpPr>
        <p:spPr>
          <a:xfrm>
            <a:off x="8458200" y="914400"/>
            <a:ext cx="1085850" cy="1085850"/>
          </a:xfrm>
          <a:prstGeom prst="ellipse">
            <a:avLst/>
          </a:prstGeom>
          <a:solidFill>
            <a:srgbClr val="FFD86B"/>
          </a:solidFill>
          <a:ln w="12700">
            <a:solidFill>
              <a:srgbClr val="FFD86B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5" name="Shape 3"/>
          <p:cNvSpPr/>
          <p:nvPr/>
        </p:nvSpPr>
        <p:spPr>
          <a:xfrm>
            <a:off x="9001125" y="594360"/>
            <a:ext cx="0" cy="262890"/>
          </a:xfrm>
          <a:prstGeom prst="line">
            <a:avLst/>
          </a:prstGeom>
          <a:noFill/>
          <a:ln w="25400">
            <a:solidFill>
              <a:srgbClr val="FFD86B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6" name="Shape 4"/>
          <p:cNvSpPr/>
          <p:nvPr/>
        </p:nvSpPr>
        <p:spPr>
          <a:xfrm>
            <a:off x="9001125" y="2057400"/>
            <a:ext cx="0" cy="262890"/>
          </a:xfrm>
          <a:prstGeom prst="line">
            <a:avLst/>
          </a:prstGeom>
          <a:noFill/>
          <a:ln w="25400">
            <a:solidFill>
              <a:srgbClr val="FFD86B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7" name="Shape 5"/>
          <p:cNvSpPr/>
          <p:nvPr/>
        </p:nvSpPr>
        <p:spPr>
          <a:xfrm>
            <a:off x="8138160" y="1457325"/>
            <a:ext cx="262890" cy="0"/>
          </a:xfrm>
          <a:prstGeom prst="line">
            <a:avLst/>
          </a:prstGeom>
          <a:noFill/>
          <a:ln w="25400">
            <a:solidFill>
              <a:srgbClr val="FFD86B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8" name="Shape 6"/>
          <p:cNvSpPr/>
          <p:nvPr/>
        </p:nvSpPr>
        <p:spPr>
          <a:xfrm>
            <a:off x="9601200" y="1457325"/>
            <a:ext cx="262890" cy="0"/>
          </a:xfrm>
          <a:prstGeom prst="line">
            <a:avLst/>
          </a:prstGeom>
          <a:noFill/>
          <a:ln w="25400">
            <a:solidFill>
              <a:srgbClr val="FFD86B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9" name="Shape 7"/>
          <p:cNvSpPr/>
          <p:nvPr/>
        </p:nvSpPr>
        <p:spPr>
          <a:xfrm>
            <a:off x="9090050" y="1474379"/>
            <a:ext cx="1362822" cy="13628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0" name="Shape 8"/>
          <p:cNvSpPr/>
          <p:nvPr/>
        </p:nvSpPr>
        <p:spPr>
          <a:xfrm>
            <a:off x="9978847" y="1711391"/>
            <a:ext cx="1185062" cy="11850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1" name="Shape 9"/>
          <p:cNvSpPr/>
          <p:nvPr/>
        </p:nvSpPr>
        <p:spPr>
          <a:xfrm>
            <a:off x="8349386" y="1859524"/>
            <a:ext cx="1259129" cy="10665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2" name="Shape 10"/>
          <p:cNvSpPr/>
          <p:nvPr/>
        </p:nvSpPr>
        <p:spPr>
          <a:xfrm>
            <a:off x="8749345" y="2155789"/>
            <a:ext cx="2103486" cy="7702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3" name="Shape 11"/>
          <p:cNvSpPr/>
          <p:nvPr/>
        </p:nvSpPr>
        <p:spPr>
          <a:xfrm>
            <a:off x="9669780" y="3509467"/>
            <a:ext cx="757123" cy="757123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4" name="Shape 12"/>
          <p:cNvSpPr/>
          <p:nvPr/>
        </p:nvSpPr>
        <p:spPr>
          <a:xfrm>
            <a:off x="10163556" y="3641141"/>
            <a:ext cx="658368" cy="65836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5" name="Shape 13"/>
          <p:cNvSpPr/>
          <p:nvPr/>
        </p:nvSpPr>
        <p:spPr>
          <a:xfrm>
            <a:off x="9258300" y="3723437"/>
            <a:ext cx="699516" cy="592531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6" name="Shape 14"/>
          <p:cNvSpPr/>
          <p:nvPr/>
        </p:nvSpPr>
        <p:spPr>
          <a:xfrm>
            <a:off x="9480499" y="3888029"/>
            <a:ext cx="1168603" cy="427939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7" name="Shape 15"/>
          <p:cNvSpPr/>
          <p:nvPr/>
        </p:nvSpPr>
        <p:spPr>
          <a:xfrm>
            <a:off x="603504" y="566928"/>
            <a:ext cx="15361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8" name="Text 16"/>
          <p:cNvSpPr/>
          <p:nvPr/>
        </p:nvSpPr>
        <p:spPr>
          <a:xfrm>
            <a:off x="603504" y="57607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DEMO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3075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Cirra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21792" y="2029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Weather Briefing MCP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21792" y="2651760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248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Fast, structured weather information through MCP tools — built for quick decisions.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" y="3822192"/>
            <a:ext cx="54406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3" name="Text 21"/>
          <p:cNvSpPr/>
          <p:nvPr/>
        </p:nvSpPr>
        <p:spPr>
          <a:xfrm>
            <a:off x="850392" y="4041648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3941064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Rawand Bawatneh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" y="5175504"/>
            <a:ext cx="1051560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6" name="Text 24"/>
          <p:cNvSpPr/>
          <p:nvPr/>
        </p:nvSpPr>
        <p:spPr>
          <a:xfrm>
            <a:off x="621792" y="51846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10512" y="5175504"/>
            <a:ext cx="1143000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8" name="Text 26"/>
          <p:cNvSpPr/>
          <p:nvPr/>
        </p:nvSpPr>
        <p:spPr>
          <a:xfrm>
            <a:off x="1810512" y="5184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Forecast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90672" y="5175504"/>
            <a:ext cx="1078992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0" name="Text 28"/>
          <p:cNvSpPr/>
          <p:nvPr/>
        </p:nvSpPr>
        <p:spPr>
          <a:xfrm>
            <a:off x="3090672" y="51846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15968" y="5175504"/>
            <a:ext cx="932688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2" name="Text 30"/>
          <p:cNvSpPr/>
          <p:nvPr/>
        </p:nvSpPr>
        <p:spPr>
          <a:xfrm>
            <a:off x="4315968" y="51846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Alerts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Cirra?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simple weather workflow designed around quick, useful answers.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01752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5" name="Text 3"/>
          <p:cNvSpPr/>
          <p:nvPr/>
        </p:nvSpPr>
        <p:spPr>
          <a:xfrm>
            <a:off x="841248" y="1755648"/>
            <a:ext cx="475488" cy="329184"/>
          </a:xfrm>
          <a:prstGeom prst="roundRect">
            <a:avLst/>
          </a:prstGeom>
          <a:solidFill>
            <a:srgbClr val="DDF2F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22219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 many steps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724912"/>
            <a:ext cx="2487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Users often jump between apps or tabs just to check basic conditions.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33088" y="1536192"/>
            <a:ext cx="301752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9" name="Text 7"/>
          <p:cNvSpPr/>
          <p:nvPr/>
        </p:nvSpPr>
        <p:spPr>
          <a:xfrm>
            <a:off x="4334256" y="1755648"/>
            <a:ext cx="475488" cy="329184"/>
          </a:xfrm>
          <a:prstGeom prst="roundRect">
            <a:avLst/>
          </a:prstGeom>
          <a:solidFill>
            <a:srgbClr val="DDF2F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2219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data is not enough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89120" y="2724912"/>
            <a:ext cx="2487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Weather APIs return data, but users need clear, usable information.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26096" y="1536192"/>
            <a:ext cx="301752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3" name="Text 11"/>
          <p:cNvSpPr/>
          <p:nvPr/>
        </p:nvSpPr>
        <p:spPr>
          <a:xfrm>
            <a:off x="7827264" y="1755648"/>
            <a:ext cx="475488" cy="329184"/>
          </a:xfrm>
          <a:prstGeom prst="roundRect">
            <a:avLst/>
          </a:prstGeom>
          <a:solidFill>
            <a:srgbClr val="DDF2F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82128" y="22219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Decisions need speed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82128" y="2724912"/>
            <a:ext cx="2487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conditions and comparisons should be available in seconds.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10003536" cy="1188720"/>
          </a:xfrm>
          <a:prstGeom prst="roundRect">
            <a:avLst>
              <a:gd name="adj" fmla="val 13846"/>
            </a:avLst>
          </a:prstGeom>
          <a:solidFill>
            <a:srgbClr val="113B56"/>
          </a:solidFill>
          <a:ln w="12700">
            <a:solidFill>
              <a:srgbClr val="113B56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7" name="Text 15"/>
          <p:cNvSpPr/>
          <p:nvPr/>
        </p:nvSpPr>
        <p:spPr>
          <a:xfrm>
            <a:off x="886968" y="4315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9E4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4608576"/>
            <a:ext cx="9098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Turns weather data into structured MCP responses that are quick to run and easy to use.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32688" y="5605272"/>
            <a:ext cx="13258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0" name="Text 18"/>
          <p:cNvSpPr/>
          <p:nvPr/>
        </p:nvSpPr>
        <p:spPr>
          <a:xfrm>
            <a:off x="932688" y="5614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get_weather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04872" y="5605272"/>
            <a:ext cx="14447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2" name="Text 20"/>
          <p:cNvSpPr/>
          <p:nvPr/>
        </p:nvSpPr>
        <p:spPr>
          <a:xfrm>
            <a:off x="2404872" y="561441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get_forecast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95928" y="5605272"/>
            <a:ext cx="1609344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4" name="Text 22"/>
          <p:cNvSpPr/>
          <p:nvPr/>
        </p:nvSpPr>
        <p:spPr>
          <a:xfrm>
            <a:off x="3995928" y="561441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compare_weather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51576" y="5605272"/>
            <a:ext cx="138988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6" name="Text 24"/>
          <p:cNvSpPr/>
          <p:nvPr/>
        </p:nvSpPr>
        <p:spPr>
          <a:xfrm>
            <a:off x="5751576" y="561441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weather alerts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87768" y="5605272"/>
            <a:ext cx="116128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8" name="Text 26"/>
          <p:cNvSpPr/>
          <p:nvPr/>
        </p:nvSpPr>
        <p:spPr>
          <a:xfrm>
            <a:off x="7287768" y="5614416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briefings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it works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small TypeScript MCP pipeline with validation, live weather data, and offline fallback.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82880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5" name="Shape 3"/>
          <p:cNvSpPr/>
          <p:nvPr/>
        </p:nvSpPr>
        <p:spPr>
          <a:xfrm>
            <a:off x="667512" y="2057400"/>
            <a:ext cx="384048" cy="384048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6" name="Text 4"/>
          <p:cNvSpPr/>
          <p:nvPr/>
        </p:nvSpPr>
        <p:spPr>
          <a:xfrm>
            <a:off x="6675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596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MCP Client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7512" y="29626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Runs the selected tool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2404872" y="2660904"/>
            <a:ext cx="201168" cy="0"/>
          </a:xfrm>
          <a:prstGeom prst="line">
            <a:avLst/>
          </a:prstGeom>
          <a:noFill/>
          <a:ln w="27940">
            <a:solidFill>
              <a:srgbClr val="6EC7EA"/>
            </a:solidFill>
            <a:prstDash val="solid"/>
            <a:tailEnd type="triangle"/>
          </a:ln>
        </p:spPr>
        <p:txBody>
          <a:bodyPr/>
          <a:lstStyle/>
          <a:p>
            <a:endParaRPr lang="ar-PS"/>
          </a:p>
        </p:txBody>
      </p:sp>
      <p:sp>
        <p:nvSpPr>
          <p:cNvPr id="10" name="Shape 8"/>
          <p:cNvSpPr/>
          <p:nvPr/>
        </p:nvSpPr>
        <p:spPr>
          <a:xfrm>
            <a:off x="2679192" y="1874520"/>
            <a:ext cx="182880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1" name="Shape 9"/>
          <p:cNvSpPr/>
          <p:nvPr/>
        </p:nvSpPr>
        <p:spPr>
          <a:xfrm>
            <a:off x="2843784" y="2057400"/>
            <a:ext cx="384048" cy="384048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2" name="Text 10"/>
          <p:cNvSpPr/>
          <p:nvPr/>
        </p:nvSpPr>
        <p:spPr>
          <a:xfrm>
            <a:off x="284378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43784" y="2596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 Handler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843784" y="29626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get_weather / forecast / compare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4581144" y="2660904"/>
            <a:ext cx="201168" cy="0"/>
          </a:xfrm>
          <a:prstGeom prst="line">
            <a:avLst/>
          </a:prstGeom>
          <a:noFill/>
          <a:ln w="27940">
            <a:solidFill>
              <a:srgbClr val="6EC7EA"/>
            </a:solidFill>
            <a:prstDash val="solid"/>
            <a:tailEnd type="triangle"/>
          </a:ln>
        </p:spPr>
        <p:txBody>
          <a:bodyPr/>
          <a:lstStyle/>
          <a:p>
            <a:endParaRPr lang="ar-PS"/>
          </a:p>
        </p:txBody>
      </p:sp>
      <p:sp>
        <p:nvSpPr>
          <p:cNvPr id="16" name="Shape 14"/>
          <p:cNvSpPr/>
          <p:nvPr/>
        </p:nvSpPr>
        <p:spPr>
          <a:xfrm>
            <a:off x="4855464" y="1874520"/>
            <a:ext cx="182880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7" name="Shape 15"/>
          <p:cNvSpPr/>
          <p:nvPr/>
        </p:nvSpPr>
        <p:spPr>
          <a:xfrm>
            <a:off x="5020056" y="2057400"/>
            <a:ext cx="384048" cy="384048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8" name="Text 16"/>
          <p:cNvSpPr/>
          <p:nvPr/>
        </p:nvSpPr>
        <p:spPr>
          <a:xfrm>
            <a:off x="50200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0056" y="2596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Zod Validation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0056" y="29626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Checks city names and bounds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757416" y="2660904"/>
            <a:ext cx="201168" cy="0"/>
          </a:xfrm>
          <a:prstGeom prst="line">
            <a:avLst/>
          </a:prstGeom>
          <a:noFill/>
          <a:ln w="27940">
            <a:solidFill>
              <a:srgbClr val="6EC7EA"/>
            </a:solidFill>
            <a:prstDash val="solid"/>
            <a:tailEnd type="triangle"/>
          </a:ln>
        </p:spPr>
        <p:txBody>
          <a:bodyPr/>
          <a:lstStyle/>
          <a:p>
            <a:endParaRPr lang="ar-PS"/>
          </a:p>
        </p:txBody>
      </p:sp>
      <p:sp>
        <p:nvSpPr>
          <p:cNvPr id="22" name="Shape 20"/>
          <p:cNvSpPr/>
          <p:nvPr/>
        </p:nvSpPr>
        <p:spPr>
          <a:xfrm>
            <a:off x="7031736" y="1874520"/>
            <a:ext cx="1828800" cy="1572768"/>
          </a:xfrm>
          <a:prstGeom prst="roundRect">
            <a:avLst>
              <a:gd name="adj" fmla="val 9302"/>
            </a:avLst>
          </a:prstGeom>
          <a:solidFill>
            <a:srgbClr val="F3FB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3" name="Shape 21"/>
          <p:cNvSpPr/>
          <p:nvPr/>
        </p:nvSpPr>
        <p:spPr>
          <a:xfrm>
            <a:off x="7196328" y="2057400"/>
            <a:ext cx="384048" cy="384048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4" name="Text 22"/>
          <p:cNvSpPr/>
          <p:nvPr/>
        </p:nvSpPr>
        <p:spPr>
          <a:xfrm>
            <a:off x="719632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596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Open-Meteo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96328" y="29626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 live weather API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933688" y="2660904"/>
            <a:ext cx="201168" cy="0"/>
          </a:xfrm>
          <a:prstGeom prst="line">
            <a:avLst/>
          </a:prstGeom>
          <a:noFill/>
          <a:ln w="27940">
            <a:solidFill>
              <a:srgbClr val="6EC7EA"/>
            </a:solidFill>
            <a:prstDash val="solid"/>
            <a:tailEnd type="triangle"/>
          </a:ln>
        </p:spPr>
        <p:txBody>
          <a:bodyPr/>
          <a:lstStyle/>
          <a:p>
            <a:endParaRPr lang="ar-PS"/>
          </a:p>
        </p:txBody>
      </p:sp>
      <p:sp>
        <p:nvSpPr>
          <p:cNvPr id="28" name="Shape 26"/>
          <p:cNvSpPr/>
          <p:nvPr/>
        </p:nvSpPr>
        <p:spPr>
          <a:xfrm>
            <a:off x="9208008" y="1874520"/>
            <a:ext cx="24231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9" name="Shape 27"/>
          <p:cNvSpPr/>
          <p:nvPr/>
        </p:nvSpPr>
        <p:spPr>
          <a:xfrm>
            <a:off x="9372600" y="2057400"/>
            <a:ext cx="384048" cy="384048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0" name="Text 28"/>
          <p:cNvSpPr/>
          <p:nvPr/>
        </p:nvSpPr>
        <p:spPr>
          <a:xfrm>
            <a:off x="93726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72600" y="259689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Result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372600" y="2962656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JSON-ready MCP response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1993392" y="4078224"/>
            <a:ext cx="8183880" cy="1225296"/>
          </a:xfrm>
          <a:prstGeom prst="roundRect">
            <a:avLst>
              <a:gd name="adj" fmla="val 11940"/>
            </a:avLst>
          </a:prstGeom>
          <a:solidFill>
            <a:srgbClr val="F8FD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4" name="Text 32"/>
          <p:cNvSpPr/>
          <p:nvPr/>
        </p:nvSpPr>
        <p:spPr>
          <a:xfrm>
            <a:off x="2267712" y="43159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fallback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58768" y="4233672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2248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the API or Wi‑Fi fails, Cirra reads local fixture data so the demo can still return predictable results.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2276856" y="4828032"/>
            <a:ext cx="1097280" cy="347472"/>
          </a:xfrm>
          <a:prstGeom prst="roundRect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7" name="Text 35"/>
          <p:cNvSpPr/>
          <p:nvPr/>
        </p:nvSpPr>
        <p:spPr>
          <a:xfrm>
            <a:off x="2276856" y="48371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 only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20440" y="4828032"/>
            <a:ext cx="1325880" cy="347472"/>
          </a:xfrm>
          <a:prstGeom prst="roundRect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39" name="Text 37"/>
          <p:cNvSpPr/>
          <p:nvPr/>
        </p:nvSpPr>
        <p:spPr>
          <a:xfrm>
            <a:off x="35204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validated input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01768" y="4828032"/>
            <a:ext cx="1389888" cy="347472"/>
          </a:xfrm>
          <a:prstGeom prst="roundRect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41" name="Text 39"/>
          <p:cNvSpPr/>
          <p:nvPr/>
        </p:nvSpPr>
        <p:spPr>
          <a:xfrm>
            <a:off x="5001768" y="48371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timeout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47104" y="4828032"/>
            <a:ext cx="1280160" cy="347472"/>
          </a:xfrm>
          <a:prstGeom prst="roundRect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43" name="Text 41"/>
          <p:cNvSpPr/>
          <p:nvPr/>
        </p:nvSpPr>
        <p:spPr>
          <a:xfrm>
            <a:off x="6547104" y="48371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fixtures</a:t>
            </a:r>
            <a:endParaRPr lang="en-US" sz="10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Demo — 2 Tool Calls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771632" y="420624"/>
            <a:ext cx="713232" cy="347472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DDF7F2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5" name="Text 3"/>
          <p:cNvSpPr/>
          <p:nvPr/>
        </p:nvSpPr>
        <p:spPr>
          <a:xfrm>
            <a:off x="10771632" y="4297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8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3504" y="1481328"/>
            <a:ext cx="5394960" cy="4370832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7" name="Shape 5"/>
          <p:cNvSpPr/>
          <p:nvPr/>
        </p:nvSpPr>
        <p:spPr>
          <a:xfrm>
            <a:off x="896112" y="1773936"/>
            <a:ext cx="402336" cy="402336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8" name="Text 6"/>
          <p:cNvSpPr/>
          <p:nvPr/>
        </p:nvSpPr>
        <p:spPr>
          <a:xfrm>
            <a:off x="89611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6464" y="17647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get_weather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6112" y="2340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2688336"/>
            <a:ext cx="4791456" cy="1234440"/>
          </a:xfrm>
          <a:prstGeom prst="roundRect">
            <a:avLst>
              <a:gd name="adj" fmla="val 8889"/>
            </a:avLst>
          </a:prstGeom>
          <a:solidFill>
            <a:srgbClr val="0E2F43"/>
          </a:solidFill>
          <a:ln w="12700">
            <a:solidFill>
              <a:srgbClr val="0E2F43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2" name="Text 10"/>
          <p:cNvSpPr/>
          <p:nvPr/>
        </p:nvSpPr>
        <p:spPr>
          <a:xfrm>
            <a:off x="1115568" y="285292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"city": "Hebron"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96112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Expected result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112" y="4599432"/>
            <a:ext cx="1938528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5" name="Text 13"/>
          <p:cNvSpPr/>
          <p:nvPr/>
        </p:nvSpPr>
        <p:spPr>
          <a:xfrm>
            <a:off x="896112" y="460857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44952" y="4599432"/>
            <a:ext cx="1938528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7" name="Text 15"/>
          <p:cNvSpPr/>
          <p:nvPr/>
        </p:nvSpPr>
        <p:spPr>
          <a:xfrm>
            <a:off x="3044952" y="460857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5074920"/>
            <a:ext cx="1938528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9" name="Text 17"/>
          <p:cNvSpPr/>
          <p:nvPr/>
        </p:nvSpPr>
        <p:spPr>
          <a:xfrm>
            <a:off x="896112" y="508406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humidity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44952" y="5074920"/>
            <a:ext cx="1938528" cy="347472"/>
          </a:xfrm>
          <a:prstGeom prst="roundRect">
            <a:avLst/>
          </a:prstGeom>
          <a:solidFill>
            <a:srgbClr val="F6FCFF"/>
          </a:solidFill>
          <a:ln w="12700">
            <a:solidFill>
              <a:srgbClr val="F6FCFF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1" name="Text 19"/>
          <p:cNvSpPr/>
          <p:nvPr/>
        </p:nvSpPr>
        <p:spPr>
          <a:xfrm>
            <a:off x="3044952" y="508406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 speed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08776" y="1481328"/>
            <a:ext cx="5394960" cy="4370832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3" name="Shape 21"/>
          <p:cNvSpPr/>
          <p:nvPr/>
        </p:nvSpPr>
        <p:spPr>
          <a:xfrm>
            <a:off x="6501384" y="1773936"/>
            <a:ext cx="402336" cy="402336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4" name="Text 22"/>
          <p:cNvSpPr/>
          <p:nvPr/>
        </p:nvSpPr>
        <p:spPr>
          <a:xfrm>
            <a:off x="650138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31736" y="17647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compare_weather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01384" y="2340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01384" y="2688336"/>
            <a:ext cx="4791456" cy="1444752"/>
          </a:xfrm>
          <a:prstGeom prst="roundRect">
            <a:avLst>
              <a:gd name="adj" fmla="val 7595"/>
            </a:avLst>
          </a:prstGeom>
          <a:solidFill>
            <a:srgbClr val="0E2F43"/>
          </a:solidFill>
          <a:ln w="12700">
            <a:solidFill>
              <a:srgbClr val="0E2F43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8" name="Text 26"/>
          <p:cNvSpPr/>
          <p:nvPr/>
        </p:nvSpPr>
        <p:spPr>
          <a:xfrm>
            <a:off x="6720840" y="2852928"/>
            <a:ext cx="42976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"city1": "Hebron",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"city2": "Amman"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6501384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A7F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Expected result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01384" y="4727448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248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structured side-by-side comparison of the current weather in Hebron and Amman.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4069080" y="599846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Steps &amp; Backup Plan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54864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I’d build next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32688" y="2423160"/>
            <a:ext cx="274320" cy="274320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7" name="Text 5"/>
          <p:cNvSpPr/>
          <p:nvPr/>
        </p:nvSpPr>
        <p:spPr>
          <a:xfrm>
            <a:off x="932688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53312" y="2359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2248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 location disambiguation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932688" y="3044952"/>
            <a:ext cx="274320" cy="274320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0" name="Text 8"/>
          <p:cNvSpPr/>
          <p:nvPr/>
        </p:nvSpPr>
        <p:spPr>
          <a:xfrm>
            <a:off x="932688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29809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2248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richer severe-weather notifications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932688" y="3666744"/>
            <a:ext cx="274320" cy="274320"/>
          </a:xfrm>
          <a:prstGeom prst="ellipse">
            <a:avLst/>
          </a:prstGeom>
          <a:solidFill>
            <a:srgbClr val="DDF2FC"/>
          </a:solidFill>
          <a:ln w="12700">
            <a:solidFill>
              <a:srgbClr val="DDF2FC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3" name="Text 11"/>
          <p:cNvSpPr/>
          <p:nvPr/>
        </p:nvSpPr>
        <p:spPr>
          <a:xfrm>
            <a:off x="932688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8FB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53312" y="36027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2248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 favorite cities beyond local storage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6419088" y="1481328"/>
            <a:ext cx="5148072" cy="3246120"/>
          </a:xfrm>
          <a:prstGeom prst="roundRect">
            <a:avLst>
              <a:gd name="adj" fmla="val 4507"/>
            </a:avLst>
          </a:prstGeom>
          <a:solidFill>
            <a:srgbClr val="F7FCFF"/>
          </a:solidFill>
          <a:ln w="12700">
            <a:solidFill>
              <a:srgbClr val="C5E7F5"/>
            </a:solidFill>
            <a:prstDash val="solid"/>
          </a:ln>
        </p:spPr>
        <p:txBody>
          <a:bodyPr/>
          <a:lstStyle/>
          <a:p>
            <a:endParaRPr lang="ar-PS" dirty="0"/>
          </a:p>
        </p:txBody>
      </p:sp>
      <p:sp>
        <p:nvSpPr>
          <p:cNvPr id="16" name="Shape 14"/>
          <p:cNvSpPr/>
          <p:nvPr/>
        </p:nvSpPr>
        <p:spPr>
          <a:xfrm>
            <a:off x="6711696" y="1755648"/>
            <a:ext cx="1207008" cy="347472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17" name="Text 15"/>
          <p:cNvSpPr/>
          <p:nvPr/>
        </p:nvSpPr>
        <p:spPr>
          <a:xfrm>
            <a:off x="6711696" y="176479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05A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BACKUP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11696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3B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get_forecast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11696" y="2706624"/>
            <a:ext cx="4553712" cy="1133856"/>
          </a:xfrm>
          <a:prstGeom prst="roundRect">
            <a:avLst>
              <a:gd name="adj" fmla="val 9677"/>
            </a:avLst>
          </a:prstGeom>
          <a:solidFill>
            <a:srgbClr val="0E2F43"/>
          </a:solidFill>
          <a:ln w="12700">
            <a:solidFill>
              <a:srgbClr val="0E2F43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0" name="Text 18"/>
          <p:cNvSpPr/>
          <p:nvPr/>
        </p:nvSpPr>
        <p:spPr>
          <a:xfrm>
            <a:off x="6922008" y="28346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"city": "Hebron",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"days": 2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EAFB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11696" y="40782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1399032" y="5084064"/>
            <a:ext cx="9381744" cy="859536"/>
          </a:xfrm>
          <a:prstGeom prst="roundRect">
            <a:avLst>
              <a:gd name="adj" fmla="val 19149"/>
            </a:avLst>
          </a:prstGeom>
          <a:solidFill>
            <a:srgbClr val="113B56"/>
          </a:solidFill>
          <a:ln w="12700">
            <a:solidFill>
              <a:srgbClr val="113B56"/>
            </a:solidFill>
            <a:prstDash val="solid"/>
          </a:ln>
        </p:spPr>
        <p:txBody>
          <a:bodyPr/>
          <a:lstStyle/>
          <a:p>
            <a:endParaRPr lang="ar-PS"/>
          </a:p>
        </p:txBody>
      </p:sp>
      <p:sp>
        <p:nvSpPr>
          <p:cNvPr id="23" name="Text 21"/>
          <p:cNvSpPr/>
          <p:nvPr/>
        </p:nvSpPr>
        <p:spPr>
          <a:xfrm>
            <a:off x="1627632" y="52852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 — Questions?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6492240" y="5321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A7F96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776</Words>
  <Application>Microsoft Office PowerPoint</Application>
  <PresentationFormat>Widescreen</PresentationFormat>
  <Paragraphs>103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Noto Sans</vt:lpstr>
      <vt:lpstr>Noto Sans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Rawand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Cirra — Weather Briefing MCP</dc:title>
  <dc:subject>Task 6.3 Demo Presentation — Weather Briefing MCP (Cirra)</dc:subject>
  <dc:creator>Rawand Bawatneh</dc:creator>
  <cp:lastModifiedBy>Rawand Bawatneh</cp:lastModifiedBy>
  <cp:revision>2</cp:revision>
  <dcterms:created xsi:type="dcterms:W3CDTF">2026-09-03T12:17:47Z</dcterms:created>
  <dcterms:modified xsi:type="dcterms:W3CDTF">2026-09-03T12:22:27Z</dcterms:modified>
</cp:coreProperties>
</file>